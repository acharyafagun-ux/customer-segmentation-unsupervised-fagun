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000" b="1">
                <a:solidFill>
                  <a:srgbClr val="203864"/>
                </a:solidFill>
              </a:defRPr>
            </a:pPr>
            <a:r>
              <a:t>Advanced Customer Segmentation Using Unsupervised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t>Customer Intelligence &amp; Strategic Business Insights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t>Capstone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A5A"/>
                </a:solidFill>
              </a:defRPr>
            </a:pPr>
            <a:r>
              <a:t>Advanced Customer Segmentation | Capstone Project    |   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03864"/>
                </a:solidFill>
              </a:defRPr>
            </a:pPr>
            <a:r>
              <a:t>Business Context &amp;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t>Organizations lack structured customer segmentation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Difficulty identifying revenue-driving and churn-risk customers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Need for data-driven marketing allocation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Objective: Build scalable unsupervised segmentation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A5A"/>
                </a:solidFill>
              </a:defRPr>
            </a:pPr>
            <a:r>
              <a:t>Advanced Customer Segmentation | Capstone Project    |   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03864"/>
                </a:solidFill>
              </a:defRPr>
            </a:pPr>
            <a: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t>Online Retail Dataset (5000+ transactions)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Transactional purchase records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Customer-level aggregation performed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RFM behavioral modeling applied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A5A"/>
                </a:solidFill>
              </a:defRPr>
            </a:pPr>
            <a:r>
              <a:t>Advanced Customer Segmentation | Capstone Project    |   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03864"/>
                </a:solidFill>
              </a:defRPr>
            </a:pPr>
            <a:r>
              <a:t>Data Preprocessing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t>Removed missing Customer IDs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Eliminated invalid and negative transactions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Outlier treatment using statistical thresholds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Feature scaling via StandardScaler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A5A"/>
                </a:solidFill>
              </a:defRPr>
            </a:pPr>
            <a:r>
              <a:t>Advanced Customer Segmentation | Capstone Project    |   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03864"/>
                </a:solidFill>
              </a:defRPr>
            </a:pPr>
            <a:r>
              <a:t>Feature Engineering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t>Recency – Days since last purchase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Frequency – Transaction count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Monetary – Revenue contribution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Derived metrics: Avg order value, product diversity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A5A"/>
                </a:solidFill>
              </a:defRPr>
            </a:pPr>
            <a:r>
              <a:t>Advanced Customer Segmentation | Capstone Project    |   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03864"/>
                </a:solidFill>
              </a:defRPr>
            </a:pPr>
            <a:r>
              <a:t>Clustering Algorithms Implemented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t>KMeans (Partition-based)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Hierarchical (Agglomerative)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DBSCAN (Density-based)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Gaussian Mixture Model (Probabilistic)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A5A"/>
                </a:solidFill>
              </a:defRPr>
            </a:pPr>
            <a:r>
              <a:t>Advanced Customer Segmentation | Capstone Project    |   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03864"/>
                </a:solidFill>
              </a:defRPr>
            </a:pPr>
            <a:r>
              <a:t>Cluster Optimization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t>Elbow Method for optimal K detection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Silhouette Score for cluster separation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Davies-Bouldin Index for compactness evaluation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K=3 selected based on balanced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A5A"/>
                </a:solidFill>
              </a:defRPr>
            </a:pPr>
            <a:r>
              <a:t>Advanced Customer Segmentation | Capstone Project    |   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03864"/>
                </a:solidFill>
              </a:defRPr>
            </a:pPr>
            <a:r>
              <a:t>Model Performance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t>GMM – Highest Silhouette Score (0.3907)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DBSCAN – Lowest Davies-Bouldin Index (0.7535)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KMeans – Strong interpretability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Final approach balances technical strength &amp; business clarity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A5A"/>
                </a:solidFill>
              </a:defRPr>
            </a:pPr>
            <a:r>
              <a:t>Advanced Customer Segmentation | Capstone Project    |   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03864"/>
                </a:solidFill>
              </a:defRPr>
            </a:pPr>
            <a:r>
              <a:t>Elbow Method Visualization</a:t>
            </a:r>
          </a:p>
        </p:txBody>
      </p:sp>
      <p:pic>
        <p:nvPicPr>
          <p:cNvPr id="3" name="Picture 2" descr="elbow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4864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A5A"/>
                </a:solidFill>
              </a:defRPr>
            </a:pPr>
            <a:r>
              <a:t>Advanced Customer Segmentation | Capstone Project    |   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03864"/>
                </a:solidFill>
              </a:defRPr>
            </a:pPr>
            <a:r>
              <a:t>PCA Cluster Visualization</a:t>
            </a:r>
          </a:p>
        </p:txBody>
      </p:sp>
      <p:pic>
        <p:nvPicPr>
          <p:cNvPr id="3" name="Picture 2" descr="pca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4864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A5A"/>
                </a:solidFill>
              </a:defRPr>
            </a:pPr>
            <a:r>
              <a:t>Advanced Customer Segmentation | Capstone Project    |   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03864"/>
                </a:solidFill>
              </a:defRPr>
            </a:pPr>
            <a:r>
              <a:t>Cluster 0 – Dormant / At-Risk Segment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t>High Recency, Low Frequency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Minimal revenue contribution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High churn probability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Strategy: Re-engagement &amp; retention campaigns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A5A"/>
                </a:solidFill>
              </a:defRPr>
            </a:pPr>
            <a:r>
              <a:t>Advanced Customer Segmentation | Capstone Project    |   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03864"/>
                </a:solidFill>
              </a:defRPr>
            </a:pPr>
            <a:r>
              <a:t>Cluster 1 – Premium Loyal Segment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t>Low Recency, High Frequency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Highest revenue contribution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Core customer base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Strategy: Loyalty programs &amp; exclusive offers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A5A"/>
                </a:solidFill>
              </a:defRPr>
            </a:pPr>
            <a:r>
              <a:t>Advanced Customer Segmentation | Capstone Project    |    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03864"/>
                </a:solidFill>
              </a:defRPr>
            </a:pPr>
            <a:r>
              <a:t>Cluster 2 – Mid-Tier Growth Segment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t>Moderate purchasing behavior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Stable revenue contribution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Upselling opportunity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Strategy: Cross-sell &amp; personalization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A5A"/>
                </a:solidFill>
              </a:defRPr>
            </a:pPr>
            <a:r>
              <a:t>Advanced Customer Segmentation | Capstone Project    |   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03864"/>
                </a:solidFill>
              </a:defRPr>
            </a:pPr>
            <a:r>
              <a:t>Strategic 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t>Premium segment drives majority revenue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Dormant segment represents retention opportunity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Targeted segmentation improves marketing ROI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Scalable enterprise-ready analytics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A5A"/>
                </a:solidFill>
              </a:defRPr>
            </a:pPr>
            <a:r>
              <a:t>Advanced Customer Segmentation | Capstone Project    |   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203864"/>
                </a:solidFill>
              </a:defRPr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5A5A5A"/>
                </a:solidFill>
              </a:defRPr>
            </a:pPr>
            <a:r>
              <a:t>3 distinct behavioral customer segments identified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Scientific validation through multiple clustering metrics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Actionable marketing strategies developed</a:t>
            </a:r>
          </a:p>
          <a:p>
            <a:pPr lvl="1">
              <a:defRPr sz="1800">
                <a:solidFill>
                  <a:srgbClr val="5A5A5A"/>
                </a:solidFill>
              </a:defRPr>
            </a:pPr>
            <a:r>
              <a:t>Framework ready for real-world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A5A"/>
                </a:solidFill>
              </a:defRPr>
            </a:pPr>
            <a:r>
              <a:t>Advanced Customer Segmentation | Capstone Project    |    Slide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