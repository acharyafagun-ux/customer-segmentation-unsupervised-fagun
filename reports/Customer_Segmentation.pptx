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T Sans Bold" charset="1" panose="020B0703020203020204"/>
      <p:regular r:id="rId21"/>
    </p:embeddedFont>
    <p:embeddedFont>
      <p:font typeface="PT Sans" charset="1" panose="020B0503020203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7A716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2" y="1142996"/>
            <a:ext cx="10284321" cy="8000996"/>
            <a:chOff x="0" y="0"/>
            <a:chExt cx="9751060" cy="75861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51060" cy="7586091"/>
            </a:xfrm>
            <a:custGeom>
              <a:avLst/>
              <a:gdLst/>
              <a:ahLst/>
              <a:cxnLst/>
              <a:rect r="r" b="b" t="t" l="l"/>
              <a:pathLst>
                <a:path h="7586091" w="9751060">
                  <a:moveTo>
                    <a:pt x="0" y="0"/>
                  </a:moveTo>
                  <a:lnTo>
                    <a:pt x="9751060" y="0"/>
                  </a:lnTo>
                  <a:lnTo>
                    <a:pt x="9751060" y="7586091"/>
                  </a:lnTo>
                  <a:lnTo>
                    <a:pt x="0" y="7586091"/>
                  </a:lnTo>
                  <a:close/>
                </a:path>
              </a:pathLst>
            </a:custGeom>
            <a:solidFill>
              <a:srgbClr val="7A716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89579" y="1947672"/>
            <a:ext cx="8229600" cy="4882896"/>
            <a:chOff x="0" y="0"/>
            <a:chExt cx="7802880" cy="46297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02880" cy="4629709"/>
            </a:xfrm>
            <a:custGeom>
              <a:avLst/>
              <a:gdLst/>
              <a:ahLst/>
              <a:cxnLst/>
              <a:rect r="r" b="b" t="t" l="l"/>
              <a:pathLst>
                <a:path h="4629709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629709"/>
                  </a:lnTo>
                  <a:lnTo>
                    <a:pt x="0" y="46297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126" t="0" r="-26126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7802880" cy="45820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156">
                  <a:solidFill>
                    <a:srgbClr val="FEF8F5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Advanced Customer Segmentation Using Unsupervised Learning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652108" y="7098235"/>
            <a:ext cx="7972425" cy="1214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700" spc="-3">
                <a:solidFill>
                  <a:srgbClr val="FEF8F5"/>
                </a:solidFill>
                <a:latin typeface="PT Sans"/>
                <a:ea typeface="PT Sans"/>
                <a:cs typeface="PT Sans"/>
                <a:sym typeface="PT Sans"/>
              </a:rPr>
              <a:t>Customer Intelligence &amp; Strategic Business Insights</a:t>
            </a:r>
          </a:p>
          <a:p>
            <a:pPr algn="l">
              <a:lnSpc>
                <a:spcPts val="2916"/>
              </a:lnSpc>
            </a:pPr>
            <a:r>
              <a:rPr lang="en-US" sz="2700" spc="-3">
                <a:solidFill>
                  <a:srgbClr val="FEF8F5"/>
                </a:solidFill>
                <a:latin typeface="PT Sans"/>
                <a:ea typeface="PT Sans"/>
                <a:cs typeface="PT Sans"/>
                <a:sym typeface="PT Sans"/>
              </a:rPr>
              <a:t>Capstone Project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1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211019" y="6453582"/>
            <a:ext cx="3265976" cy="3879669"/>
          </a:xfrm>
          <a:custGeom>
            <a:avLst/>
            <a:gdLst/>
            <a:ahLst/>
            <a:cxnLst/>
            <a:rect r="r" b="b" t="t" l="l"/>
            <a:pathLst>
              <a:path h="3879669" w="3265976">
                <a:moveTo>
                  <a:pt x="0" y="0"/>
                </a:moveTo>
                <a:lnTo>
                  <a:pt x="3265975" y="0"/>
                </a:lnTo>
                <a:lnTo>
                  <a:pt x="3265975" y="3879669"/>
                </a:lnTo>
                <a:lnTo>
                  <a:pt x="0" y="38796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DFA18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Business Context &amp; Objective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38928" y="1296162"/>
            <a:ext cx="8229600" cy="7680960"/>
            <a:chOff x="0" y="0"/>
            <a:chExt cx="7802880" cy="728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2880" cy="7282688"/>
            </a:xfrm>
            <a:custGeom>
              <a:avLst/>
              <a:gdLst/>
              <a:ahLst/>
              <a:cxnLst/>
              <a:rect r="r" b="b" t="t" l="l"/>
              <a:pathLst>
                <a:path h="72826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282688"/>
                  </a:lnTo>
                  <a:lnTo>
                    <a:pt x="0" y="728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802880" cy="7254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7472" indent="-173736" lvl="1">
                <a:lnSpc>
                  <a:spcPts val="2916"/>
                </a:lnSpc>
                <a:buFont typeface="Arial"/>
                <a:buChar char="•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Organizations lack structured customer segmentation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Difficulty identifying revenue-driving and churn-risk customers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Need for data-driven marketing allocation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Objective: Build scalable unsupervised segmentation framework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DFA18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Dataset Overview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38928" y="1296162"/>
            <a:ext cx="8229600" cy="7680960"/>
            <a:chOff x="0" y="0"/>
            <a:chExt cx="7802880" cy="728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2880" cy="7282688"/>
            </a:xfrm>
            <a:custGeom>
              <a:avLst/>
              <a:gdLst/>
              <a:ahLst/>
              <a:cxnLst/>
              <a:rect r="r" b="b" t="t" l="l"/>
              <a:pathLst>
                <a:path h="72826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282688"/>
                  </a:lnTo>
                  <a:lnTo>
                    <a:pt x="0" y="728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802880" cy="7254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7472" indent="-173736" lvl="1">
                <a:lnSpc>
                  <a:spcPts val="2916"/>
                </a:lnSpc>
                <a:buFont typeface="Arial"/>
                <a:buChar char="•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Online Retail Dataset (5000+ transactions)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Transactional purchase records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Customer-level aggregation performed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RFM behavioral modeling applied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DFA18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Data Preprocessing Strategy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38928" y="1296162"/>
            <a:ext cx="8229600" cy="7680960"/>
            <a:chOff x="0" y="0"/>
            <a:chExt cx="7802880" cy="728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2880" cy="7282688"/>
            </a:xfrm>
            <a:custGeom>
              <a:avLst/>
              <a:gdLst/>
              <a:ahLst/>
              <a:cxnLst/>
              <a:rect r="r" b="b" t="t" l="l"/>
              <a:pathLst>
                <a:path h="72826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282688"/>
                  </a:lnTo>
                  <a:lnTo>
                    <a:pt x="0" y="728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802880" cy="7254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7472" indent="-173736" lvl="1">
                <a:lnSpc>
                  <a:spcPts val="2916"/>
                </a:lnSpc>
                <a:buFont typeface="Arial"/>
                <a:buChar char="•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Removed missing Customer IDs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Eliminated invalid and negative transactions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Outlier treatment using statistical thresholds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Feature scaling via StandardScaler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DFA18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Feature Engineering Framework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38928" y="1296162"/>
            <a:ext cx="8229600" cy="7680960"/>
            <a:chOff x="0" y="0"/>
            <a:chExt cx="7802880" cy="728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2880" cy="7282688"/>
            </a:xfrm>
            <a:custGeom>
              <a:avLst/>
              <a:gdLst/>
              <a:ahLst/>
              <a:cxnLst/>
              <a:rect r="r" b="b" t="t" l="l"/>
              <a:pathLst>
                <a:path h="72826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282688"/>
                  </a:lnTo>
                  <a:lnTo>
                    <a:pt x="0" y="728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802880" cy="7254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7472" indent="-173736" lvl="1">
                <a:lnSpc>
                  <a:spcPts val="2916"/>
                </a:lnSpc>
                <a:buFont typeface="Arial"/>
                <a:buChar char="•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Recency – Days since last purchase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Frequency – Transaction count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Monetary – Revenue contribution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Derived metrics: Avg order value, product diversity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DFA18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Clustering Algorithms Implemented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38928" y="1296162"/>
            <a:ext cx="8229600" cy="7680960"/>
            <a:chOff x="0" y="0"/>
            <a:chExt cx="7802880" cy="728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2880" cy="7282688"/>
            </a:xfrm>
            <a:custGeom>
              <a:avLst/>
              <a:gdLst/>
              <a:ahLst/>
              <a:cxnLst/>
              <a:rect r="r" b="b" t="t" l="l"/>
              <a:pathLst>
                <a:path h="72826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282688"/>
                  </a:lnTo>
                  <a:lnTo>
                    <a:pt x="0" y="728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802880" cy="7254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7472" indent="-173736" lvl="1">
                <a:lnSpc>
                  <a:spcPts val="2916"/>
                </a:lnSpc>
                <a:buFont typeface="Arial"/>
                <a:buChar char="•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KMeans (Partition-based)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Hierarchical (Agglomerative)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DBSCAN (Density-based)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Gaussian Mixture Model (Probabilistic)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DFA18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Cluster Optimization Strategy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38928" y="1296162"/>
            <a:ext cx="8229600" cy="7680960"/>
            <a:chOff x="0" y="0"/>
            <a:chExt cx="7802880" cy="728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2880" cy="7282688"/>
            </a:xfrm>
            <a:custGeom>
              <a:avLst/>
              <a:gdLst/>
              <a:ahLst/>
              <a:cxnLst/>
              <a:rect r="r" b="b" t="t" l="l"/>
              <a:pathLst>
                <a:path h="72826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282688"/>
                  </a:lnTo>
                  <a:lnTo>
                    <a:pt x="0" y="728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802880" cy="7254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7472" indent="-173736" lvl="1">
                <a:lnSpc>
                  <a:spcPts val="2916"/>
                </a:lnSpc>
                <a:buFont typeface="Arial"/>
                <a:buChar char="•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Elbow Method for optimal K detection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Silhouette Score for cluster separation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Davies-Bouldin Index for compactness evaluation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K=3 selected based on balanced metrics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DFA18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Model Performance Comparison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38928" y="1296162"/>
            <a:ext cx="8229600" cy="7680960"/>
            <a:chOff x="0" y="0"/>
            <a:chExt cx="7802880" cy="728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2880" cy="7282688"/>
            </a:xfrm>
            <a:custGeom>
              <a:avLst/>
              <a:gdLst/>
              <a:ahLst/>
              <a:cxnLst/>
              <a:rect r="r" b="b" t="t" l="l"/>
              <a:pathLst>
                <a:path h="72826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282688"/>
                  </a:lnTo>
                  <a:lnTo>
                    <a:pt x="0" y="728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802880" cy="7254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7472" indent="-173736" lvl="1">
                <a:lnSpc>
                  <a:spcPts val="2916"/>
                </a:lnSpc>
                <a:buFont typeface="Arial"/>
                <a:buChar char="•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GMM – Highest Silhouette Score (0.3907)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DBSCAN – Lowest Davies-Bouldin Index (0.7535)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KMeans – Strong interpretability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Final approach balances technical strength &amp; business clarity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CCB6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Elbow Method Visualization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65376" y="2057400"/>
            <a:ext cx="8229600" cy="6172200"/>
            <a:chOff x="0" y="0"/>
            <a:chExt cx="7802880" cy="5852160"/>
          </a:xfrm>
        </p:grpSpPr>
        <p:sp>
          <p:nvSpPr>
            <p:cNvPr name="Freeform 10" id="10" descr="elbow_plot.png"/>
            <p:cNvSpPr/>
            <p:nvPr/>
          </p:nvSpPr>
          <p:spPr>
            <a:xfrm flipH="false" flipV="false" rot="0">
              <a:off x="0" y="0"/>
              <a:ext cx="7802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CCB6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5"/>
                </a:lnSpc>
              </a:pPr>
              <a:r>
                <a:rPr lang="en-US" b="true" sz="4199" spc="-95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PCA Cluster Visualization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55654" y="2057400"/>
            <a:ext cx="8229600" cy="6172200"/>
            <a:chOff x="0" y="0"/>
            <a:chExt cx="7802880" cy="5852160"/>
          </a:xfrm>
        </p:grpSpPr>
        <p:sp>
          <p:nvSpPr>
            <p:cNvPr name="Freeform 10" id="10" descr="pca_plot.png"/>
            <p:cNvSpPr/>
            <p:nvPr/>
          </p:nvSpPr>
          <p:spPr>
            <a:xfrm flipH="false" flipV="false" rot="0">
              <a:off x="0" y="0"/>
              <a:ext cx="7802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DFA18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Cluster 0 – Dormant / At-Risk Segment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38928" y="1296162"/>
            <a:ext cx="8229600" cy="7680960"/>
            <a:chOff x="0" y="0"/>
            <a:chExt cx="7802880" cy="728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2880" cy="7282688"/>
            </a:xfrm>
            <a:custGeom>
              <a:avLst/>
              <a:gdLst/>
              <a:ahLst/>
              <a:cxnLst/>
              <a:rect r="r" b="b" t="t" l="l"/>
              <a:pathLst>
                <a:path h="72826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282688"/>
                  </a:lnTo>
                  <a:lnTo>
                    <a:pt x="0" y="728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802880" cy="7254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7472" indent="-173736" lvl="1">
                <a:lnSpc>
                  <a:spcPts val="2916"/>
                </a:lnSpc>
                <a:buFont typeface="Arial"/>
                <a:buChar char="•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High Recency, Low Frequency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Minimal revenue contribution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High churn probability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Strategy: Re-engagement &amp; retention campaigns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DFA18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Cluster 1 – Premium Loyal Segment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38928" y="1296162"/>
            <a:ext cx="8229600" cy="7680960"/>
            <a:chOff x="0" y="0"/>
            <a:chExt cx="7802880" cy="728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2880" cy="7282688"/>
            </a:xfrm>
            <a:custGeom>
              <a:avLst/>
              <a:gdLst/>
              <a:ahLst/>
              <a:cxnLst/>
              <a:rect r="r" b="b" t="t" l="l"/>
              <a:pathLst>
                <a:path h="72826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282688"/>
                  </a:lnTo>
                  <a:lnTo>
                    <a:pt x="0" y="728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802880" cy="7254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7472" indent="-173736" lvl="1">
                <a:lnSpc>
                  <a:spcPts val="2916"/>
                </a:lnSpc>
                <a:buFont typeface="Arial"/>
                <a:buChar char="•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Low Recency, High Frequency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Highest revenue contribution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Core customer base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Strategy: Loyalty programs &amp; exclusive offers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DFA18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Cluster 2 – Mid-Tier Growth Segment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38928" y="1296162"/>
            <a:ext cx="8229600" cy="7680960"/>
            <a:chOff x="0" y="0"/>
            <a:chExt cx="7802880" cy="728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2880" cy="7282688"/>
            </a:xfrm>
            <a:custGeom>
              <a:avLst/>
              <a:gdLst/>
              <a:ahLst/>
              <a:cxnLst/>
              <a:rect r="r" b="b" t="t" l="l"/>
              <a:pathLst>
                <a:path h="72826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282688"/>
                  </a:lnTo>
                  <a:lnTo>
                    <a:pt x="0" y="728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802880" cy="7254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7472" indent="-173736" lvl="1">
                <a:lnSpc>
                  <a:spcPts val="2916"/>
                </a:lnSpc>
                <a:buFont typeface="Arial"/>
                <a:buChar char="•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Moderate purchasing behavior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Stable revenue contribution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Upselling opportunity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Strategy: Cross-sell &amp; personalization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DFA18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Strategic Business Impact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38928" y="1296162"/>
            <a:ext cx="8229600" cy="7680960"/>
            <a:chOff x="0" y="0"/>
            <a:chExt cx="7802880" cy="728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2880" cy="7282688"/>
            </a:xfrm>
            <a:custGeom>
              <a:avLst/>
              <a:gdLst/>
              <a:ahLst/>
              <a:cxnLst/>
              <a:rect r="r" b="b" t="t" l="l"/>
              <a:pathLst>
                <a:path h="72826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282688"/>
                  </a:lnTo>
                  <a:lnTo>
                    <a:pt x="0" y="728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802880" cy="7254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7472" indent="-173736" lvl="1">
                <a:lnSpc>
                  <a:spcPts val="2916"/>
                </a:lnSpc>
                <a:buFont typeface="Arial"/>
                <a:buChar char="•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Premium segment drives majority revenue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Dormant segment represents retention opportunity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Targeted segmentation improves marketing ROI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Scalable enterprise-ready analytics pipeline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2" y="1138428"/>
            <a:ext cx="3874033" cy="7996428"/>
            <a:chOff x="0" y="0"/>
            <a:chExt cx="3673158" cy="7581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3221" cy="7581773"/>
            </a:xfrm>
            <a:custGeom>
              <a:avLst/>
              <a:gdLst/>
              <a:ahLst/>
              <a:cxnLst/>
              <a:rect r="r" b="b" t="t" l="l"/>
              <a:pathLst>
                <a:path h="7581773" w="3673221">
                  <a:moveTo>
                    <a:pt x="0" y="0"/>
                  </a:moveTo>
                  <a:lnTo>
                    <a:pt x="3673221" y="0"/>
                  </a:lnTo>
                  <a:lnTo>
                    <a:pt x="3673221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DFA18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8853" y="1138428"/>
            <a:ext cx="432054" cy="7996428"/>
            <a:chOff x="0" y="0"/>
            <a:chExt cx="409651" cy="75817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702" cy="7581773"/>
            </a:xfrm>
            <a:custGeom>
              <a:avLst/>
              <a:gdLst/>
              <a:ahLst/>
              <a:cxnLst/>
              <a:rect r="r" b="b" t="t" l="l"/>
              <a:pathLst>
                <a:path h="7581773" w="409702">
                  <a:moveTo>
                    <a:pt x="0" y="0"/>
                  </a:moveTo>
                  <a:lnTo>
                    <a:pt x="409702" y="0"/>
                  </a:lnTo>
                  <a:lnTo>
                    <a:pt x="409702" y="7581773"/>
                  </a:lnTo>
                  <a:lnTo>
                    <a:pt x="0" y="7581773"/>
                  </a:lnTo>
                  <a:close/>
                </a:path>
              </a:pathLst>
            </a:custGeom>
            <a:solidFill>
              <a:srgbClr val="948A82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0540" y="1685755"/>
            <a:ext cx="3315923" cy="6901773"/>
            <a:chOff x="0" y="0"/>
            <a:chExt cx="3143987" cy="6543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3982" cy="6543904"/>
            </a:xfrm>
            <a:custGeom>
              <a:avLst/>
              <a:gdLst/>
              <a:ahLst/>
              <a:cxnLst/>
              <a:rect r="r" b="b" t="t" l="l"/>
              <a:pathLst>
                <a:path h="6543904" w="3143982">
                  <a:moveTo>
                    <a:pt x="0" y="0"/>
                  </a:moveTo>
                  <a:lnTo>
                    <a:pt x="3143982" y="0"/>
                  </a:lnTo>
                  <a:lnTo>
                    <a:pt x="3143982" y="6543904"/>
                  </a:lnTo>
                  <a:lnTo>
                    <a:pt x="0" y="65439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7051" t="0" r="-2170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3143987" cy="6496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500" spc="-96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38928" y="1296162"/>
            <a:ext cx="8229600" cy="7680960"/>
            <a:chOff x="0" y="0"/>
            <a:chExt cx="7802880" cy="728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2880" cy="7282688"/>
            </a:xfrm>
            <a:custGeom>
              <a:avLst/>
              <a:gdLst/>
              <a:ahLst/>
              <a:cxnLst/>
              <a:rect r="r" b="b" t="t" l="l"/>
              <a:pathLst>
                <a:path h="728268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282688"/>
                  </a:lnTo>
                  <a:lnTo>
                    <a:pt x="0" y="728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802880" cy="7254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7472" indent="-173736" lvl="1">
                <a:lnSpc>
                  <a:spcPts val="2916"/>
                </a:lnSpc>
                <a:buFont typeface="Arial"/>
                <a:buChar char="•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3 distinct behavioral customer segments identified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Scientific validation through multiple clustering metrics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Actionable marketing strategies developed</a:t>
              </a:r>
            </a:p>
            <a:p>
              <a:pPr algn="l" marL="1101852" indent="-367284" lvl="2">
                <a:lnSpc>
                  <a:spcPts val="2916"/>
                </a:lnSpc>
                <a:buFont typeface="Arial"/>
                <a:buChar char="⚬"/>
              </a:pPr>
              <a:r>
                <a:rPr lang="en-US" sz="2700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Framework ready for real-world deployment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00388" y="9391174"/>
            <a:ext cx="12087225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Advanced Customer Segmentation | Capstone Project    |    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DAHEA9x2YC8</dc:identifier>
  <dcterms:modified xsi:type="dcterms:W3CDTF">2011-08-01T06:04:30Z</dcterms:modified>
  <cp:revision>1</cp:revision>
</cp:coreProperties>
</file>